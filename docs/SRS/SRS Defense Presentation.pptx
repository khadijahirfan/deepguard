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Open Sans Bold" panose="020B0604020202020204" charset="0"/>
      <p:regular r:id="rId27"/>
    </p:embeddedFont>
    <p:embeddedFont>
      <p:font typeface="Montserrat Bold" panose="020B0604020202020204" charset="0"/>
      <p:regular r:id="rId28"/>
    </p:embeddedFont>
    <p:embeddedFont>
      <p:font typeface="Canva Sans Bold" panose="020B0604020202020204" charset="0"/>
      <p:regular r:id="rId29"/>
    </p:embeddedFont>
    <p:embeddedFont>
      <p:font typeface="Open Sans" panose="020B0604020202020204" charset="0"/>
      <p:regular r:id="rId30"/>
    </p:embeddedFont>
    <p:embeddedFont>
      <p:font typeface="Montserrat" panose="020B0604020202020204" charset="0"/>
      <p:regular r:id="rId31"/>
    </p:embeddedFont>
    <p:embeddedFont>
      <p:font typeface="Canva Sans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50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5081" y="5824806"/>
            <a:ext cx="14635201" cy="2500904"/>
            <a:chOff x="0" y="0"/>
            <a:chExt cx="540256" cy="923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0256" cy="92321"/>
            </a:xfrm>
            <a:custGeom>
              <a:avLst/>
              <a:gdLst/>
              <a:ahLst/>
              <a:cxnLst/>
              <a:rect l="l" t="t" r="r" b="b"/>
              <a:pathLst>
                <a:path w="540256" h="92321">
                  <a:moveTo>
                    <a:pt x="0" y="0"/>
                  </a:moveTo>
                  <a:lnTo>
                    <a:pt x="540256" y="0"/>
                  </a:lnTo>
                  <a:lnTo>
                    <a:pt x="540256" y="92321"/>
                  </a:lnTo>
                  <a:lnTo>
                    <a:pt x="0" y="92321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0256" cy="130421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00519" y="3116355"/>
            <a:ext cx="13140623" cy="171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8"/>
              </a:lnSpc>
            </a:pPr>
            <a:r>
              <a:rPr lang="en-US" sz="139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DEEPGUARD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2138" y="6380837"/>
            <a:ext cx="13501086" cy="138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MULTIMODAL 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 DETECTION WITH EXPLAINABLE AI</a:t>
            </a:r>
          </a:p>
        </p:txBody>
      </p:sp>
      <p:sp>
        <p:nvSpPr>
          <p:cNvPr id="7" name="Freeform 7"/>
          <p:cNvSpPr/>
          <p:nvPr/>
        </p:nvSpPr>
        <p:spPr>
          <a:xfrm>
            <a:off x="-1139059" y="-243369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20244" y="-2973906"/>
            <a:ext cx="6753790" cy="6409961"/>
          </a:xfrm>
          <a:custGeom>
            <a:avLst/>
            <a:gdLst/>
            <a:ahLst/>
            <a:cxnLst/>
            <a:rect l="l" t="t" r="r" b="b"/>
            <a:pathLst>
              <a:path w="6753790" h="6409961">
                <a:moveTo>
                  <a:pt x="0" y="0"/>
                </a:moveTo>
                <a:lnTo>
                  <a:pt x="6753790" y="0"/>
                </a:lnTo>
                <a:lnTo>
                  <a:pt x="6753790" y="6409961"/>
                </a:lnTo>
                <a:lnTo>
                  <a:pt x="0" y="64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5183" y="2956124"/>
            <a:ext cx="13140623" cy="127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10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 </a:t>
            </a:r>
          </a:p>
        </p:txBody>
      </p:sp>
      <p:sp>
        <p:nvSpPr>
          <p:cNvPr id="3" name="Freeform 3"/>
          <p:cNvSpPr/>
          <p:nvPr/>
        </p:nvSpPr>
        <p:spPr>
          <a:xfrm>
            <a:off x="-1139059" y="-243369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80320" y="5154178"/>
            <a:ext cx="14478980" cy="2192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9120"/>
              </a:lnSpc>
              <a:buFont typeface="Arial"/>
              <a:buChar char="•"/>
            </a:pPr>
            <a:r>
              <a:rPr lang="en-US" sz="4800" b="1">
                <a:solidFill>
                  <a:srgbClr val="F8FB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Khadijah Irfan       SP-23/BSSE/025</a:t>
            </a:r>
          </a:p>
          <a:p>
            <a:pPr marL="1036322" lvl="1" indent="-518161" algn="l">
              <a:lnSpc>
                <a:spcPts val="9120"/>
              </a:lnSpc>
              <a:buFont typeface="Arial"/>
              <a:buChar char="•"/>
            </a:pPr>
            <a:r>
              <a:rPr lang="en-US" sz="4800" b="1">
                <a:solidFill>
                  <a:srgbClr val="F8FB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Zujajah Khan         SP-23/BSSE/031</a:t>
            </a:r>
          </a:p>
        </p:txBody>
      </p:sp>
      <p:sp>
        <p:nvSpPr>
          <p:cNvPr id="5" name="Freeform 5"/>
          <p:cNvSpPr/>
          <p:nvPr/>
        </p:nvSpPr>
        <p:spPr>
          <a:xfrm>
            <a:off x="15289588" y="6775728"/>
            <a:ext cx="7097080" cy="6735774"/>
          </a:xfrm>
          <a:custGeom>
            <a:avLst/>
            <a:gdLst/>
            <a:ahLst/>
            <a:cxnLst/>
            <a:rect l="l" t="t" r="r" b="b"/>
            <a:pathLst>
              <a:path w="7097080" h="6735774">
                <a:moveTo>
                  <a:pt x="0" y="0"/>
                </a:moveTo>
                <a:lnTo>
                  <a:pt x="7097081" y="0"/>
                </a:lnTo>
                <a:lnTo>
                  <a:pt x="7097081" y="6735775"/>
                </a:lnTo>
                <a:lnTo>
                  <a:pt x="0" y="6735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362">
            <a:off x="11267469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577969"/>
            <a:ext cx="14051308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6362" y="3014732"/>
            <a:ext cx="13171314" cy="552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3"/>
              </a:lnSpc>
            </a:pPr>
            <a:r>
              <a:rPr lang="en-US" sz="5219">
                <a:solidFill>
                  <a:srgbClr val="F8FBF8"/>
                </a:solidFill>
                <a:latin typeface="Montserrat"/>
                <a:ea typeface="Montserrat"/>
                <a:cs typeface="Montserrat"/>
                <a:sym typeface="Montserrat"/>
              </a:rPr>
              <a:t>DeepGuard is an AI-powered multimodal system designed to detect manipulated digital content by analyzing both textual and visual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5183" y="7671719"/>
            <a:ext cx="1350108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endParaRPr/>
          </a:p>
          <a:p>
            <a:pPr algn="ctr">
              <a:lnSpc>
                <a:spcPts val="3600"/>
              </a:lnSpc>
            </a:pPr>
            <a:endParaRPr/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 reliable verification of suspicious online content</a:t>
            </a:r>
          </a:p>
        </p:txBody>
      </p:sp>
      <p:sp>
        <p:nvSpPr>
          <p:cNvPr id="3" name="Freeform 3"/>
          <p:cNvSpPr/>
          <p:nvPr/>
        </p:nvSpPr>
        <p:spPr>
          <a:xfrm>
            <a:off x="-1139059" y="-243369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5022556" y="6975129"/>
            <a:ext cx="13501086" cy="125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58439"/>
            <a:ext cx="8845072" cy="59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4899" b="1">
                <a:solidFill>
                  <a:srgbClr val="F8FB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system combines: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0001" y="2886456"/>
            <a:ext cx="14942584" cy="439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endParaRPr/>
          </a:p>
          <a:p>
            <a:pPr algn="l">
              <a:lnSpc>
                <a:spcPts val="6156"/>
              </a:lnSpc>
            </a:pP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Fake News Detection</a:t>
            </a:r>
          </a:p>
          <a:p>
            <a:pPr algn="l">
              <a:lnSpc>
                <a:spcPts val="6156"/>
              </a:lnSpc>
            </a:pP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Image Manipulation Detection</a:t>
            </a:r>
          </a:p>
          <a:p>
            <a:pPr algn="l">
              <a:lnSpc>
                <a:spcPts val="6156"/>
              </a:lnSpc>
            </a:pP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Sentiment Analysis</a:t>
            </a:r>
          </a:p>
          <a:p>
            <a:pPr algn="l">
              <a:lnSpc>
                <a:spcPts val="6156"/>
              </a:lnSpc>
            </a:pP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Metadata Analysis</a:t>
            </a:r>
          </a:p>
          <a:p>
            <a:pPr algn="l">
              <a:lnSpc>
                <a:spcPts val="6156"/>
              </a:lnSpc>
            </a:pP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Context Mismatch Detections. </a:t>
            </a:r>
          </a:p>
        </p:txBody>
      </p:sp>
      <p:sp>
        <p:nvSpPr>
          <p:cNvPr id="7" name="Freeform 7"/>
          <p:cNvSpPr/>
          <p:nvPr/>
        </p:nvSpPr>
        <p:spPr>
          <a:xfrm>
            <a:off x="15123255" y="5618387"/>
            <a:ext cx="8220357" cy="7801867"/>
          </a:xfrm>
          <a:custGeom>
            <a:avLst/>
            <a:gdLst/>
            <a:ahLst/>
            <a:cxnLst/>
            <a:rect l="l" t="t" r="r" b="b"/>
            <a:pathLst>
              <a:path w="8220357" h="7801867">
                <a:moveTo>
                  <a:pt x="0" y="0"/>
                </a:moveTo>
                <a:lnTo>
                  <a:pt x="8220358" y="0"/>
                </a:lnTo>
                <a:lnTo>
                  <a:pt x="8220358" y="7801866"/>
                </a:lnTo>
                <a:lnTo>
                  <a:pt x="0" y="7801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5600372" y="-1038950"/>
            <a:ext cx="6262550" cy="6262550"/>
          </a:xfrm>
          <a:custGeom>
            <a:avLst/>
            <a:gdLst/>
            <a:ahLst/>
            <a:cxnLst/>
            <a:rect l="l" t="t" r="r" b="b"/>
            <a:pathLst>
              <a:path w="6262550" h="6262550">
                <a:moveTo>
                  <a:pt x="0" y="0"/>
                </a:moveTo>
                <a:lnTo>
                  <a:pt x="6262550" y="0"/>
                </a:lnTo>
                <a:lnTo>
                  <a:pt x="6262550" y="6262550"/>
                </a:lnTo>
                <a:lnTo>
                  <a:pt x="0" y="626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575582" y="1162050"/>
            <a:ext cx="12812067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47214"/>
            <a:ext cx="15902041" cy="108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46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Fake and manipulated content spreads rapidly across social media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3389" y="4489326"/>
            <a:ext cx="1887323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Current system focus on Text only or Image only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286185" y="5593592"/>
            <a:ext cx="951965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They fail when: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48045" y="7033137"/>
            <a:ext cx="11945949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Fake text uses real image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 text uses fake image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 and Image contradict each other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137659"/>
            <a:ext cx="392856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63749" y="5484180"/>
            <a:ext cx="14846972" cy="233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9"/>
              </a:lnSpc>
              <a:spcBef>
                <a:spcPct val="0"/>
              </a:spcBef>
            </a:pPr>
            <a:r>
              <a:rPr lang="en-US" sz="6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Misleading information reaches millions of users.</a:t>
            </a:r>
          </a:p>
        </p:txBody>
      </p:sp>
      <p:sp>
        <p:nvSpPr>
          <p:cNvPr id="4" name="Freeform 4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194514" y="-155828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71147" y="3169510"/>
            <a:ext cx="4256784" cy="5743610"/>
            <a:chOff x="0" y="0"/>
            <a:chExt cx="157139" cy="2120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139" cy="212025"/>
            </a:xfrm>
            <a:custGeom>
              <a:avLst/>
              <a:gdLst/>
              <a:ahLst/>
              <a:cxnLst/>
              <a:rect l="l" t="t" r="r" b="b"/>
              <a:pathLst>
                <a:path w="157139" h="212025">
                  <a:moveTo>
                    <a:pt x="0" y="0"/>
                  </a:moveTo>
                  <a:lnTo>
                    <a:pt x="157139" y="0"/>
                  </a:lnTo>
                  <a:lnTo>
                    <a:pt x="157139" y="212025"/>
                  </a:lnTo>
                  <a:lnTo>
                    <a:pt x="0" y="212025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7139" cy="240600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19498" y="3169510"/>
            <a:ext cx="4115209" cy="5743610"/>
            <a:chOff x="0" y="0"/>
            <a:chExt cx="151912" cy="2120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912" cy="212025"/>
            </a:xfrm>
            <a:custGeom>
              <a:avLst/>
              <a:gdLst/>
              <a:ahLst/>
              <a:cxnLst/>
              <a:rect l="l" t="t" r="r" b="b"/>
              <a:pathLst>
                <a:path w="151912" h="212025">
                  <a:moveTo>
                    <a:pt x="0" y="0"/>
                  </a:moveTo>
                  <a:lnTo>
                    <a:pt x="151912" y="0"/>
                  </a:lnTo>
                  <a:lnTo>
                    <a:pt x="151912" y="212025"/>
                  </a:lnTo>
                  <a:lnTo>
                    <a:pt x="0" y="212025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1912" cy="250125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792129">
            <a:off x="-5162836" y="743593"/>
            <a:ext cx="9155917" cy="1331770"/>
          </a:xfrm>
          <a:custGeom>
            <a:avLst/>
            <a:gdLst/>
            <a:ahLst/>
            <a:cxnLst/>
            <a:rect l="l" t="t" r="r" b="b"/>
            <a:pathLst>
              <a:path w="9155917" h="1331770">
                <a:moveTo>
                  <a:pt x="0" y="0"/>
                </a:moveTo>
                <a:lnTo>
                  <a:pt x="9155917" y="0"/>
                </a:lnTo>
                <a:lnTo>
                  <a:pt x="9155917" y="1331770"/>
                </a:lnTo>
                <a:lnTo>
                  <a:pt x="0" y="1331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429800" y="1080866"/>
            <a:ext cx="1359626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 &amp; OBJECTIVES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43903" y="3211848"/>
            <a:ext cx="4031818" cy="5743610"/>
            <a:chOff x="0" y="0"/>
            <a:chExt cx="148834" cy="2120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8834" cy="212025"/>
            </a:xfrm>
            <a:custGeom>
              <a:avLst/>
              <a:gdLst/>
              <a:ahLst/>
              <a:cxnLst/>
              <a:rect l="l" t="t" r="r" b="b"/>
              <a:pathLst>
                <a:path w="148834" h="212025">
                  <a:moveTo>
                    <a:pt x="0" y="0"/>
                  </a:moveTo>
                  <a:lnTo>
                    <a:pt x="148834" y="0"/>
                  </a:lnTo>
                  <a:lnTo>
                    <a:pt x="148834" y="212025"/>
                  </a:lnTo>
                  <a:lnTo>
                    <a:pt x="0" y="212025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8834" cy="250125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71147" y="3600449"/>
            <a:ext cx="3727018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 fake news from textual content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7999" y="3692450"/>
            <a:ext cx="3727018" cy="463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develop an intelligent system capable of detecting manipulated content using multiple AI techniques.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71147" y="5417538"/>
            <a:ext cx="3727018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 manipulated or synthetic images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1147" y="7297773"/>
            <a:ext cx="3727018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Analyze metadata indicators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19498" y="3420489"/>
            <a:ext cx="3727018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Analyze sentiment patterns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19498" y="5095875"/>
            <a:ext cx="3727018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 text-image inconsistencies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19498" y="6912964"/>
            <a:ext cx="3727018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Explain AI decisions using Explainable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857250"/>
            <a:ext cx="1180882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SCOPE</a:t>
            </a:r>
          </a:p>
        </p:txBody>
      </p:sp>
      <p:sp>
        <p:nvSpPr>
          <p:cNvPr id="3" name="Freeform 3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17235" y="7370097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0969" y="3265932"/>
            <a:ext cx="730648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37B4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Included: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1810" y="4524843"/>
            <a:ext cx="9215375" cy="479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7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Text-based fake news detection </a:t>
            </a:r>
          </a:p>
          <a:p>
            <a:pPr algn="l">
              <a:lnSpc>
                <a:spcPts val="6407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Image authenticity analysis </a:t>
            </a:r>
          </a:p>
          <a:p>
            <a:pPr algn="l">
              <a:lnSpc>
                <a:spcPts val="6407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Metadata analysis </a:t>
            </a:r>
          </a:p>
          <a:p>
            <a:pPr algn="l">
              <a:lnSpc>
                <a:spcPts val="6407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Sentiment analysis </a:t>
            </a:r>
          </a:p>
          <a:p>
            <a:pPr algn="l">
              <a:lnSpc>
                <a:spcPts val="6407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Explainable AI </a:t>
            </a:r>
          </a:p>
          <a:p>
            <a:pPr algn="l">
              <a:lnSpc>
                <a:spcPts val="6407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Web-based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6985" y="2758993"/>
            <a:ext cx="5458420" cy="146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1">
                <a:solidFill>
                  <a:srgbClr val="37B4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Excluded: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10886" y="4913320"/>
            <a:ext cx="16443736" cy="370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8"/>
              </a:lnSpc>
            </a:pPr>
            <a:r>
              <a:rPr lang="en-US" sz="4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✗ Live social media crawling</a:t>
            </a:r>
          </a:p>
          <a:p>
            <a:pPr algn="l">
              <a:lnSpc>
                <a:spcPts val="10198"/>
              </a:lnSpc>
            </a:pPr>
            <a:r>
              <a:rPr lang="en-US" sz="4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✗ Video deepfake detection </a:t>
            </a:r>
          </a:p>
          <a:p>
            <a:pPr algn="l">
              <a:lnSpc>
                <a:spcPts val="10198"/>
              </a:lnSpc>
            </a:pPr>
            <a:r>
              <a:rPr lang="en-US" sz="4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✗ Multilingual support (future work)</a:t>
            </a:r>
          </a:p>
        </p:txBody>
      </p:sp>
      <p:sp>
        <p:nvSpPr>
          <p:cNvPr id="4" name="Freeform 4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194514" y="-155828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660084" y="885825"/>
            <a:ext cx="22364002" cy="121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 REQUIREMENTS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17715" y="3186728"/>
            <a:ext cx="14716919" cy="487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5"/>
              </a:lnSpc>
            </a:pPr>
            <a:r>
              <a:rPr lang="en-US" sz="531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FR-1:</a:t>
            </a:r>
            <a:r>
              <a:rPr lang="en-US" sz="5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User can enter news/article text </a:t>
            </a:r>
          </a:p>
          <a:p>
            <a:pPr algn="l">
              <a:lnSpc>
                <a:spcPts val="9825"/>
              </a:lnSpc>
            </a:pPr>
            <a:r>
              <a:rPr lang="en-US" sz="531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FR-2:</a:t>
            </a:r>
            <a:r>
              <a:rPr lang="en-US" sz="5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User can upload an image </a:t>
            </a:r>
          </a:p>
          <a:p>
            <a:pPr algn="l">
              <a:lnSpc>
                <a:spcPts val="9825"/>
              </a:lnSpc>
            </a:pPr>
            <a:r>
              <a:rPr lang="en-US" sz="531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FR-3:</a:t>
            </a:r>
            <a:r>
              <a:rPr lang="en-US" sz="5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System analyzes text using AI models </a:t>
            </a:r>
          </a:p>
          <a:p>
            <a:pPr algn="l">
              <a:lnSpc>
                <a:spcPts val="9825"/>
              </a:lnSpc>
            </a:pPr>
            <a:r>
              <a:rPr lang="en-US" sz="531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FR-4: </a:t>
            </a:r>
            <a:r>
              <a:rPr lang="en-US" sz="5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analyzes image content </a:t>
            </a:r>
          </a:p>
        </p:txBody>
      </p:sp>
      <p:sp>
        <p:nvSpPr>
          <p:cNvPr id="4" name="Freeform 4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1436531" y="7021156"/>
            <a:ext cx="4930463" cy="4679457"/>
          </a:xfrm>
          <a:custGeom>
            <a:avLst/>
            <a:gdLst/>
            <a:ahLst/>
            <a:cxnLst/>
            <a:rect l="l" t="t" r="r" b="b"/>
            <a:pathLst>
              <a:path w="4930463" h="4679457">
                <a:moveTo>
                  <a:pt x="0" y="0"/>
                </a:moveTo>
                <a:lnTo>
                  <a:pt x="4930462" y="0"/>
                </a:lnTo>
                <a:lnTo>
                  <a:pt x="4930462" y="4679457"/>
                </a:lnTo>
                <a:lnTo>
                  <a:pt x="0" y="4679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94514" y="-155828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94971" y="2956684"/>
            <a:ext cx="12781808" cy="579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05"/>
              </a:lnSpc>
            </a:pPr>
            <a:r>
              <a:rPr lang="en-US" sz="4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FR-5: </a:t>
            </a:r>
            <a:r>
              <a:rPr lang="en-US" sz="4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performs metadata analysis </a:t>
            </a:r>
          </a:p>
          <a:p>
            <a:pPr algn="l">
              <a:lnSpc>
                <a:spcPts val="9305"/>
              </a:lnSpc>
            </a:pPr>
            <a:r>
              <a:rPr lang="en-US" sz="4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FR-6:</a:t>
            </a:r>
            <a:r>
              <a:rPr lang="en-US" sz="4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System performs sentiment analysis </a:t>
            </a:r>
          </a:p>
          <a:p>
            <a:pPr algn="l">
              <a:lnSpc>
                <a:spcPts val="9305"/>
              </a:lnSpc>
            </a:pPr>
            <a:r>
              <a:rPr lang="en-US" sz="4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FR-7:</a:t>
            </a:r>
            <a:r>
              <a:rPr lang="en-US" sz="4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System generates final verdict </a:t>
            </a:r>
          </a:p>
          <a:p>
            <a:pPr algn="l">
              <a:lnSpc>
                <a:spcPts val="9305"/>
              </a:lnSpc>
            </a:pPr>
            <a:r>
              <a:rPr lang="en-US" sz="4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FR-8: </a:t>
            </a:r>
            <a:r>
              <a:rPr lang="en-US" sz="4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displays confidence score </a:t>
            </a:r>
          </a:p>
          <a:p>
            <a:pPr algn="l">
              <a:lnSpc>
                <a:spcPts val="9305"/>
              </a:lnSpc>
            </a:pPr>
            <a:r>
              <a:rPr lang="en-US" sz="4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FR-9:</a:t>
            </a:r>
            <a:r>
              <a:rPr lang="en-US" sz="4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System explains prediction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477913" y="1142944"/>
            <a:ext cx="2073721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NON-FUNCTIONAL REQUIREMENTS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65966" y="2537565"/>
            <a:ext cx="14959701" cy="646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21"/>
              </a:lnSpc>
              <a:spcBef>
                <a:spcPct val="0"/>
              </a:spcBef>
            </a:pPr>
            <a:r>
              <a:rPr lang="en-US" sz="574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</a:t>
            </a:r>
          </a:p>
          <a:p>
            <a:pPr algn="l">
              <a:lnSpc>
                <a:spcPts val="8621"/>
              </a:lnSpc>
              <a:spcBef>
                <a:spcPct val="0"/>
              </a:spcBef>
            </a:pPr>
            <a:r>
              <a:rPr lang="en-US" sz="57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• Response time under 5 seconds </a:t>
            </a:r>
            <a:r>
              <a:rPr lang="en-US" sz="574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Usability </a:t>
            </a:r>
          </a:p>
          <a:p>
            <a:pPr algn="l">
              <a:lnSpc>
                <a:spcPts val="8621"/>
              </a:lnSpc>
              <a:spcBef>
                <a:spcPct val="0"/>
              </a:spcBef>
            </a:pPr>
            <a:r>
              <a:rPr lang="en-US" sz="57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• Simple and responsive interface </a:t>
            </a:r>
            <a:r>
              <a:rPr lang="en-US" sz="574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Reliability </a:t>
            </a:r>
          </a:p>
          <a:p>
            <a:pPr algn="l">
              <a:lnSpc>
                <a:spcPts val="8621"/>
              </a:lnSpc>
              <a:spcBef>
                <a:spcPct val="0"/>
              </a:spcBef>
            </a:pPr>
            <a:r>
              <a:rPr lang="en-US" sz="57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• Accurate prediction results</a:t>
            </a:r>
          </a:p>
        </p:txBody>
      </p:sp>
      <p:sp>
        <p:nvSpPr>
          <p:cNvPr id="4" name="Freeform 4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333154" y="7259185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94514" y="-155828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47957" y="1341567"/>
            <a:ext cx="13573036" cy="794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87"/>
              </a:lnSpc>
            </a:pPr>
            <a:r>
              <a:rPr lang="en-US" sz="598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Scalability </a:t>
            </a:r>
          </a:p>
          <a:p>
            <a:pPr algn="just">
              <a:lnSpc>
                <a:spcPts val="10587"/>
              </a:lnSpc>
            </a:pPr>
            <a:r>
              <a:rPr lang="en-US" sz="59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• Modular architecture </a:t>
            </a:r>
          </a:p>
          <a:p>
            <a:pPr algn="just">
              <a:lnSpc>
                <a:spcPts val="10587"/>
              </a:lnSpc>
            </a:pPr>
            <a:r>
              <a:rPr lang="en-US" sz="59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598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Maintainability</a:t>
            </a:r>
            <a:r>
              <a:rPr lang="en-US" sz="59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0587"/>
              </a:lnSpc>
            </a:pPr>
            <a:r>
              <a:rPr lang="en-US" sz="59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• Independent modules </a:t>
            </a:r>
          </a:p>
          <a:p>
            <a:pPr algn="just">
              <a:lnSpc>
                <a:spcPts val="10587"/>
              </a:lnSpc>
            </a:pPr>
            <a:r>
              <a:rPr lang="en-US" sz="598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</a:t>
            </a:r>
          </a:p>
          <a:p>
            <a:pPr algn="just">
              <a:lnSpc>
                <a:spcPts val="10587"/>
              </a:lnSpc>
            </a:pPr>
            <a:r>
              <a:rPr lang="en-US" sz="59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• Secure file upload handling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15608" y="3169510"/>
            <a:ext cx="4256784" cy="5743610"/>
            <a:chOff x="0" y="0"/>
            <a:chExt cx="157139" cy="2120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139" cy="212025"/>
            </a:xfrm>
            <a:custGeom>
              <a:avLst/>
              <a:gdLst/>
              <a:ahLst/>
              <a:cxnLst/>
              <a:rect l="l" t="t" r="r" b="b"/>
              <a:pathLst>
                <a:path w="157139" h="212025">
                  <a:moveTo>
                    <a:pt x="0" y="0"/>
                  </a:moveTo>
                  <a:lnTo>
                    <a:pt x="157139" y="0"/>
                  </a:lnTo>
                  <a:lnTo>
                    <a:pt x="157139" y="212025"/>
                  </a:lnTo>
                  <a:lnTo>
                    <a:pt x="0" y="212025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7139" cy="240600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792129">
            <a:off x="-5162836" y="743593"/>
            <a:ext cx="9155917" cy="1331770"/>
          </a:xfrm>
          <a:custGeom>
            <a:avLst/>
            <a:gdLst/>
            <a:ahLst/>
            <a:cxnLst/>
            <a:rect l="l" t="t" r="r" b="b"/>
            <a:pathLst>
              <a:path w="9155917" h="1331770">
                <a:moveTo>
                  <a:pt x="0" y="0"/>
                </a:moveTo>
                <a:lnTo>
                  <a:pt x="9155917" y="0"/>
                </a:lnTo>
                <a:lnTo>
                  <a:pt x="9155917" y="1331770"/>
                </a:lnTo>
                <a:lnTo>
                  <a:pt x="0" y="1331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49948" y="807310"/>
            <a:ext cx="18051021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EXTERNAL INTERFACE REQUIREMENTS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88447" y="3186690"/>
            <a:ext cx="4031818" cy="5743610"/>
            <a:chOff x="0" y="0"/>
            <a:chExt cx="148834" cy="2120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834" cy="212025"/>
            </a:xfrm>
            <a:custGeom>
              <a:avLst/>
              <a:gdLst/>
              <a:ahLst/>
              <a:cxnLst/>
              <a:rect l="l" t="t" r="r" b="b"/>
              <a:pathLst>
                <a:path w="148834" h="212025">
                  <a:moveTo>
                    <a:pt x="0" y="0"/>
                  </a:moveTo>
                  <a:lnTo>
                    <a:pt x="148834" y="0"/>
                  </a:lnTo>
                  <a:lnTo>
                    <a:pt x="148834" y="212025"/>
                  </a:lnTo>
                  <a:lnTo>
                    <a:pt x="0" y="212025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8834" cy="250125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93247" y="4009667"/>
            <a:ext cx="3727018" cy="4076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Dashboard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Detection Page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Results Page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Modules Page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About Page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3186917" y="3003143"/>
            <a:ext cx="4115209" cy="5743610"/>
            <a:chOff x="0" y="0"/>
            <a:chExt cx="151912" cy="2120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912" cy="212025"/>
            </a:xfrm>
            <a:custGeom>
              <a:avLst/>
              <a:gdLst/>
              <a:ahLst/>
              <a:cxnLst/>
              <a:rect l="l" t="t" r="r" b="b"/>
              <a:pathLst>
                <a:path w="151912" h="212025">
                  <a:moveTo>
                    <a:pt x="0" y="0"/>
                  </a:moveTo>
                  <a:lnTo>
                    <a:pt x="151912" y="0"/>
                  </a:lnTo>
                  <a:lnTo>
                    <a:pt x="151912" y="212025"/>
                  </a:lnTo>
                  <a:lnTo>
                    <a:pt x="0" y="212025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51912" cy="269175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489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301992" y="3715999"/>
            <a:ext cx="3684017" cy="466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37B4B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 Interfaces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2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Flask Framework 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2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PyTorch 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2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HuggingFace Transformers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2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OpenCV 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2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VADER Sentiment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18754" y="3288307"/>
            <a:ext cx="3086034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Interface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58342" y="5220226"/>
            <a:ext cx="4115209" cy="212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4" lvl="1" indent="-356232" algn="l">
              <a:lnSpc>
                <a:spcPts val="5708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Desktop/Laptop</a:t>
            </a:r>
          </a:p>
          <a:p>
            <a:pPr marL="712464" lvl="1" indent="-356232" algn="l">
              <a:lnSpc>
                <a:spcPts val="5708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Internet  Browser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3426" y="8793922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757495" y="462214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5" y="0"/>
                </a:lnTo>
                <a:lnTo>
                  <a:pt x="6385195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84072" y="1974829"/>
            <a:ext cx="8590172" cy="7747849"/>
          </a:xfrm>
          <a:custGeom>
            <a:avLst/>
            <a:gdLst/>
            <a:ahLst/>
            <a:cxnLst/>
            <a:rect l="l" t="t" r="r" b="b"/>
            <a:pathLst>
              <a:path w="8590172" h="7747849">
                <a:moveTo>
                  <a:pt x="0" y="0"/>
                </a:moveTo>
                <a:lnTo>
                  <a:pt x="8590172" y="0"/>
                </a:lnTo>
                <a:lnTo>
                  <a:pt x="8590172" y="7747849"/>
                </a:lnTo>
                <a:lnTo>
                  <a:pt x="0" y="7747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9171" y="700088"/>
            <a:ext cx="1262386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44226" y="0"/>
            <a:ext cx="11305251" cy="10287000"/>
            <a:chOff x="0" y="0"/>
            <a:chExt cx="1751479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1479" cy="1593725"/>
            </a:xfrm>
            <a:custGeom>
              <a:avLst/>
              <a:gdLst/>
              <a:ahLst/>
              <a:cxnLst/>
              <a:rect l="l" t="t" r="r" b="b"/>
              <a:pathLst>
                <a:path w="1751479" h="1593725">
                  <a:moveTo>
                    <a:pt x="0" y="0"/>
                  </a:moveTo>
                  <a:lnTo>
                    <a:pt x="1751479" y="0"/>
                  </a:lnTo>
                  <a:lnTo>
                    <a:pt x="175147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8027" r="-854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74508" y="6919747"/>
            <a:ext cx="8382544" cy="1867178"/>
            <a:chOff x="0" y="0"/>
            <a:chExt cx="309440" cy="689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440" cy="68927"/>
            </a:xfrm>
            <a:custGeom>
              <a:avLst/>
              <a:gdLst/>
              <a:ahLst/>
              <a:cxnLst/>
              <a:rect l="l" t="t" r="r" b="b"/>
              <a:pathLst>
                <a:path w="309440" h="68927">
                  <a:moveTo>
                    <a:pt x="0" y="0"/>
                  </a:moveTo>
                  <a:lnTo>
                    <a:pt x="309440" y="0"/>
                  </a:lnTo>
                  <a:lnTo>
                    <a:pt x="309440" y="68927"/>
                  </a:lnTo>
                  <a:lnTo>
                    <a:pt x="0" y="6892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9440" cy="1070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12781" y="2506663"/>
            <a:ext cx="1472150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2781" y="4745038"/>
            <a:ext cx="912932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93346" y="7527581"/>
            <a:ext cx="9405851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HTML5, CSS3, JavaScript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0875" y="2954656"/>
            <a:ext cx="8382544" cy="1867178"/>
            <a:chOff x="0" y="0"/>
            <a:chExt cx="309440" cy="68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440" cy="68927"/>
            </a:xfrm>
            <a:custGeom>
              <a:avLst/>
              <a:gdLst/>
              <a:ahLst/>
              <a:cxnLst/>
              <a:rect l="l" t="t" r="r" b="b"/>
              <a:pathLst>
                <a:path w="309440" h="68927">
                  <a:moveTo>
                    <a:pt x="0" y="0"/>
                  </a:moveTo>
                  <a:lnTo>
                    <a:pt x="309440" y="0"/>
                  </a:lnTo>
                  <a:lnTo>
                    <a:pt x="309440" y="68927"/>
                  </a:lnTo>
                  <a:lnTo>
                    <a:pt x="0" y="6892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9440" cy="1070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9149" y="779947"/>
            <a:ext cx="912932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8816" y="3395438"/>
            <a:ext cx="9405851" cy="7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Flask, Python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40875" y="7696129"/>
            <a:ext cx="8382544" cy="1867178"/>
            <a:chOff x="0" y="0"/>
            <a:chExt cx="309440" cy="689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9440" cy="68927"/>
            </a:xfrm>
            <a:custGeom>
              <a:avLst/>
              <a:gdLst/>
              <a:ahLst/>
              <a:cxnLst/>
              <a:rect l="l" t="t" r="r" b="b"/>
              <a:pathLst>
                <a:path w="309440" h="68927">
                  <a:moveTo>
                    <a:pt x="0" y="0"/>
                  </a:moveTo>
                  <a:lnTo>
                    <a:pt x="309440" y="0"/>
                  </a:lnTo>
                  <a:lnTo>
                    <a:pt x="309440" y="68927"/>
                  </a:lnTo>
                  <a:lnTo>
                    <a:pt x="0" y="6892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9440" cy="1070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9149" y="5521419"/>
            <a:ext cx="912932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FRAMEWORKS: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31986" y="7978208"/>
            <a:ext cx="9405851" cy="120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8" lvl="1" indent="-356234" algn="l">
              <a:lnSpc>
                <a:spcPts val="4949"/>
              </a:lnSpc>
              <a:buFont typeface="Arial"/>
              <a:buChar char="•"/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PyTorch</a:t>
            </a:r>
          </a:p>
          <a:p>
            <a:pPr marL="712468" lvl="1" indent="-356234" algn="l">
              <a:lnSpc>
                <a:spcPts val="4949"/>
              </a:lnSpc>
              <a:buFont typeface="Arial"/>
              <a:buChar char="•"/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Hugging Face</a:t>
            </a:r>
          </a:p>
        </p:txBody>
      </p:sp>
      <p:sp>
        <p:nvSpPr>
          <p:cNvPr id="12" name="Freeform 12"/>
          <p:cNvSpPr/>
          <p:nvPr/>
        </p:nvSpPr>
        <p:spPr>
          <a:xfrm rot="-5400362">
            <a:off x="9908023" y="450"/>
            <a:ext cx="8546310" cy="8546310"/>
          </a:xfrm>
          <a:custGeom>
            <a:avLst/>
            <a:gdLst/>
            <a:ahLst/>
            <a:cxnLst/>
            <a:rect l="l" t="t" r="r" b="b"/>
            <a:pathLst>
              <a:path w="8546310" h="8546310">
                <a:moveTo>
                  <a:pt x="0" y="0"/>
                </a:moveTo>
                <a:lnTo>
                  <a:pt x="8546310" y="0"/>
                </a:lnTo>
                <a:lnTo>
                  <a:pt x="8546310" y="8546310"/>
                </a:lnTo>
                <a:lnTo>
                  <a:pt x="0" y="854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0875" y="2954656"/>
            <a:ext cx="8382544" cy="1867178"/>
            <a:chOff x="0" y="0"/>
            <a:chExt cx="309440" cy="68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440" cy="68927"/>
            </a:xfrm>
            <a:custGeom>
              <a:avLst/>
              <a:gdLst/>
              <a:ahLst/>
              <a:cxnLst/>
              <a:rect l="l" t="t" r="r" b="b"/>
              <a:pathLst>
                <a:path w="309440" h="68927">
                  <a:moveTo>
                    <a:pt x="0" y="0"/>
                  </a:moveTo>
                  <a:lnTo>
                    <a:pt x="309440" y="0"/>
                  </a:lnTo>
                  <a:lnTo>
                    <a:pt x="309440" y="68927"/>
                  </a:lnTo>
                  <a:lnTo>
                    <a:pt x="0" y="6892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9440" cy="1070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9149" y="779947"/>
            <a:ext cx="912932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7932" y="3458668"/>
            <a:ext cx="9405851" cy="7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SQLite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40875" y="7696129"/>
            <a:ext cx="8382544" cy="1867178"/>
            <a:chOff x="0" y="0"/>
            <a:chExt cx="309440" cy="689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9440" cy="68927"/>
            </a:xfrm>
            <a:custGeom>
              <a:avLst/>
              <a:gdLst/>
              <a:ahLst/>
              <a:cxnLst/>
              <a:rect l="l" t="t" r="r" b="b"/>
              <a:pathLst>
                <a:path w="309440" h="68927">
                  <a:moveTo>
                    <a:pt x="0" y="0"/>
                  </a:moveTo>
                  <a:lnTo>
                    <a:pt x="309440" y="0"/>
                  </a:lnTo>
                  <a:lnTo>
                    <a:pt x="309440" y="68927"/>
                  </a:lnTo>
                  <a:lnTo>
                    <a:pt x="0" y="6892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9440" cy="1070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9149" y="5860519"/>
            <a:ext cx="11758687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VERSION CONTROL: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7932" y="8263005"/>
            <a:ext cx="9405851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4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</a:p>
        </p:txBody>
      </p:sp>
      <p:sp>
        <p:nvSpPr>
          <p:cNvPr id="12" name="Freeform 12"/>
          <p:cNvSpPr/>
          <p:nvPr/>
        </p:nvSpPr>
        <p:spPr>
          <a:xfrm rot="-5400362">
            <a:off x="9465241" y="474"/>
            <a:ext cx="8989115" cy="8989115"/>
          </a:xfrm>
          <a:custGeom>
            <a:avLst/>
            <a:gdLst/>
            <a:ahLst/>
            <a:cxnLst/>
            <a:rect l="l" t="t" r="r" b="b"/>
            <a:pathLst>
              <a:path w="8989115" h="8989115">
                <a:moveTo>
                  <a:pt x="0" y="0"/>
                </a:moveTo>
                <a:lnTo>
                  <a:pt x="8989115" y="0"/>
                </a:lnTo>
                <a:lnTo>
                  <a:pt x="8989115" y="8989115"/>
                </a:lnTo>
                <a:lnTo>
                  <a:pt x="0" y="8989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7532" y="-142875"/>
            <a:ext cx="12612936" cy="3679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endParaRPr/>
          </a:p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PROGRESS &amp; FUTURE WORK</a:t>
            </a:r>
          </a:p>
        </p:txBody>
      </p:sp>
      <p:sp>
        <p:nvSpPr>
          <p:cNvPr id="3" name="Freeform 3"/>
          <p:cNvSpPr/>
          <p:nvPr/>
        </p:nvSpPr>
        <p:spPr>
          <a:xfrm rot="-5400362">
            <a:off x="11433836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94514" y="-155828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06877" y="4213225"/>
            <a:ext cx="9129325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COMPLETED:</a:t>
            </a:r>
          </a:p>
          <a:p>
            <a:pPr algn="l">
              <a:lnSpc>
                <a:spcPts val="6999"/>
              </a:lnSpc>
            </a:pPr>
            <a:endParaRPr lang="en-US" sz="6999" b="1">
              <a:solidFill>
                <a:srgbClr val="37B4B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62761" y="4921250"/>
            <a:ext cx="6679823" cy="5686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Literature Review </a:t>
            </a:r>
          </a:p>
          <a:p>
            <a:pPr algn="l">
              <a:lnSpc>
                <a:spcPts val="5059"/>
              </a:lnSpc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SRS Documentation </a:t>
            </a:r>
          </a:p>
          <a:p>
            <a:pPr algn="just">
              <a:lnSpc>
                <a:spcPts val="5059"/>
              </a:lnSpc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System Architecture Design</a:t>
            </a:r>
          </a:p>
          <a:p>
            <a:pPr algn="just">
              <a:lnSpc>
                <a:spcPts val="5059"/>
              </a:lnSpc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Dataset Collection </a:t>
            </a:r>
          </a:p>
          <a:p>
            <a:pPr algn="just">
              <a:lnSpc>
                <a:spcPts val="5059"/>
              </a:lnSpc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Technology Stack Selection </a:t>
            </a:r>
          </a:p>
          <a:p>
            <a:pPr algn="just">
              <a:lnSpc>
                <a:spcPts val="5059"/>
              </a:lnSpc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Text Analysis Module Development </a:t>
            </a:r>
          </a:p>
          <a:p>
            <a:pPr algn="just">
              <a:lnSpc>
                <a:spcPts val="5059"/>
              </a:lnSpc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DistilBERT Model Training</a:t>
            </a:r>
          </a:p>
          <a:p>
            <a:pPr marL="658017" lvl="1" indent="-329009" algn="just">
              <a:lnSpc>
                <a:spcPts val="5059"/>
              </a:lnSpc>
              <a:buFont typeface="Arial"/>
              <a:buChar char="•"/>
            </a:pPr>
            <a:r>
              <a:rPr lang="en-US" sz="30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Sentiment Analysis</a:t>
            </a:r>
          </a:p>
          <a:p>
            <a:pPr algn="l">
              <a:lnSpc>
                <a:spcPts val="5059"/>
              </a:lnSpc>
            </a:pPr>
            <a:endParaRPr lang="en-US" sz="304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965" y="1162050"/>
            <a:ext cx="912932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PROGRESS: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08163" y="2771491"/>
            <a:ext cx="5304929" cy="198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Image Analysis Module 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Metadata Analysis </a:t>
            </a:r>
          </a:p>
          <a:p>
            <a:pPr algn="l">
              <a:lnSpc>
                <a:spcPts val="6588"/>
              </a:lnSpc>
            </a:pPr>
            <a:endParaRPr lang="en-US"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Freeform 4"/>
          <p:cNvSpPr/>
          <p:nvPr/>
        </p:nvSpPr>
        <p:spPr>
          <a:xfrm rot="-5400362">
            <a:off x="11738830" y="354"/>
            <a:ext cx="6715406" cy="6715406"/>
          </a:xfrm>
          <a:custGeom>
            <a:avLst/>
            <a:gdLst/>
            <a:ahLst/>
            <a:cxnLst/>
            <a:rect l="l" t="t" r="r" b="b"/>
            <a:pathLst>
              <a:path w="6715406" h="6715406">
                <a:moveTo>
                  <a:pt x="0" y="0"/>
                </a:moveTo>
                <a:lnTo>
                  <a:pt x="6715406" y="0"/>
                </a:lnTo>
                <a:lnTo>
                  <a:pt x="6715406" y="6715406"/>
                </a:lnTo>
                <a:lnTo>
                  <a:pt x="0" y="6715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95965" y="4886803"/>
            <a:ext cx="9129325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REMAINING:</a:t>
            </a:r>
          </a:p>
          <a:p>
            <a:pPr algn="l">
              <a:lnSpc>
                <a:spcPts val="6999"/>
              </a:lnSpc>
            </a:pPr>
            <a:endParaRPr lang="en-US" sz="6999" b="1">
              <a:solidFill>
                <a:srgbClr val="37B4B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08163" y="6208195"/>
            <a:ext cx="5984081" cy="2037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3"/>
              </a:lnSpc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Context Mismatch Detection </a:t>
            </a:r>
          </a:p>
          <a:p>
            <a:pPr algn="l">
              <a:lnSpc>
                <a:spcPts val="5543"/>
              </a:lnSpc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Explainable AI (SHAP) </a:t>
            </a:r>
          </a:p>
          <a:p>
            <a:pPr algn="l">
              <a:lnSpc>
                <a:spcPts val="5543"/>
              </a:lnSpc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System Integration &amp; Testing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203" y="8912153"/>
            <a:ext cx="7776964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40DDD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Overall Project Progress: 40%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5631" y="3460115"/>
            <a:ext cx="9456738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QUESTION?</a:t>
            </a:r>
          </a:p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THANKYOU</a:t>
            </a:r>
          </a:p>
        </p:txBody>
      </p:sp>
      <p:sp>
        <p:nvSpPr>
          <p:cNvPr id="3" name="Freeform 3"/>
          <p:cNvSpPr/>
          <p:nvPr/>
        </p:nvSpPr>
        <p:spPr>
          <a:xfrm rot="-5400362">
            <a:off x="10809752" y="-60285"/>
            <a:ext cx="7477934" cy="7477934"/>
          </a:xfrm>
          <a:custGeom>
            <a:avLst/>
            <a:gdLst/>
            <a:ahLst/>
            <a:cxnLst/>
            <a:rect l="l" t="t" r="r" b="b"/>
            <a:pathLst>
              <a:path w="7477934" h="7477934">
                <a:moveTo>
                  <a:pt x="0" y="0"/>
                </a:moveTo>
                <a:lnTo>
                  <a:pt x="7477934" y="0"/>
                </a:lnTo>
                <a:lnTo>
                  <a:pt x="7477934" y="7477934"/>
                </a:lnTo>
                <a:lnTo>
                  <a:pt x="0" y="7477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673426" y="8793922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139059" y="-243369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86659" y="-228129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79765" y="7853301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Custom</PresentationFormat>
  <Paragraphs>119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Calibri</vt:lpstr>
      <vt:lpstr>Open Sans Bold</vt:lpstr>
      <vt:lpstr>Arial</vt:lpstr>
      <vt:lpstr>Montserrat Bold</vt:lpstr>
      <vt:lpstr>Times New Roman</vt:lpstr>
      <vt:lpstr>Canva Sans Bold</vt:lpstr>
      <vt:lpstr>Open Sans</vt:lpstr>
      <vt:lpstr>Montserrat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Blue Modern Gradient Cybersecurity Presentation</dc:title>
  <cp:lastModifiedBy>MY PC</cp:lastModifiedBy>
  <cp:revision>2</cp:revision>
  <dcterms:created xsi:type="dcterms:W3CDTF">2006-08-16T00:00:00Z</dcterms:created>
  <dcterms:modified xsi:type="dcterms:W3CDTF">2026-08-24T05:42:57Z</dcterms:modified>
  <dc:identifier>DAHOsqgD-Fk</dc:identifier>
</cp:coreProperties>
</file>